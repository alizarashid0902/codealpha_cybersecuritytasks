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10.xml" ContentType="application/vnd.openxmlformats-officedocument.themeOverride+xml"/>
  <Override PartName="/ppt/notesSlides/notesSlide10.xml" ContentType="application/vnd.openxmlformats-officedocument.presentationml.notesSlide+xml"/>
  <Override PartName="/ppt/theme/themeOverride11.xml" ContentType="application/vnd.openxmlformats-officedocument.themeOverr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7"/>
  </p:notesMasterIdLst>
  <p:sldIdLst>
    <p:sldId id="278" r:id="rId5"/>
    <p:sldId id="279" r:id="rId6"/>
    <p:sldId id="295" r:id="rId7"/>
    <p:sldId id="286" r:id="rId8"/>
    <p:sldId id="287" r:id="rId9"/>
    <p:sldId id="288" r:id="rId10"/>
    <p:sldId id="289" r:id="rId11"/>
    <p:sldId id="292" r:id="rId12"/>
    <p:sldId id="293" r:id="rId13"/>
    <p:sldId id="291" r:id="rId14"/>
    <p:sldId id="294" r:id="rId15"/>
    <p:sldId id="29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12/25/2025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DE88F-1F85-4A27-9D34-D74A50E7B0D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10711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011B3-5817-00DE-7501-E2144266D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BA0ECF-F4BE-4A95-147A-64CA8D7BE2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36F86A-8D96-3E1C-51CC-6E5A786C3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277AA-DAFB-FE94-0828-DF7C1B09C6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14885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2EDB4-8CDC-D96D-5CF7-1D0F3C82D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548041-54BF-B39D-A96A-685A3023F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54DD32-F94E-D8C4-C691-D805DC3BA2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570DD9-0EE5-7B22-4E1E-D8327C1678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2622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91A7F-9E4C-19B8-5547-3ECE43E76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EA8E58-A44F-A944-0997-4B249A7537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100F1B-2A54-0262-FCDB-CE02D9139E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1563B-DA96-7551-E243-E82C1F213E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35674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3C726-FF86-9BB7-A18A-ADC4F6C9B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36E2C0-DC3B-0638-A4A5-C6097234CC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7B27F5-6942-D3BA-2054-8335662FFA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7BC745-9CCB-4609-705A-C1691CF33B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38578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D0B5D-36B3-C8F8-5014-28481DC44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5F07A7-DE7B-E099-0C63-31840602A8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DAF1E2-DBFE-812E-6234-6A19EB0943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8316E6-F014-52AC-6232-65F1E9E3F1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75536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19757-7DAB-DA57-D1F6-56E2BF838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3E5009-EAA8-F2AC-11AB-C1CBB6358C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080588-720C-A113-717E-F65384F8C5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6261D0-0936-DEE8-3E18-9CC27E7AF3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8891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8EF1C-0E46-C64E-CFFF-349D30B6A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1D18BE-113F-6E27-7C6D-41F0043578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BD1192-15D6-A9A8-68C1-7D9F86B6BC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8AF726-F7E9-7238-E879-22E0723B5E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97308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0142F-397C-24A6-FCDA-0998AF9A2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CB3FB4-EDDA-7995-0566-1DC07709C3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89E7C0-CBCE-BFBB-7AA3-05DDC6A992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5C6689-F93E-D734-D6D3-0BBB32278E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3334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E4D48-B49F-4216-F4FF-C97BAB41D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0AC1E0-9277-0582-7BD3-A68EECE853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8C2482-C132-C7CB-1609-E30AE16305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744BCA-0854-B162-2C3B-C84A4C0723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86210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12/25/2025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12/25/2025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12/25/2025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12/25/2025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12/25/2025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12/25/2025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12/25/2025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12/25/2025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12/25/2025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12/25/2025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12/25/2025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12/25/2025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12/25/2025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12/25/2025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12/25/2025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12/25/2025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6.jpe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2420504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/>
              <a:t>Phishing Awareness Training</a:t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4157933"/>
            <a:ext cx="3573310" cy="709342"/>
          </a:xfrm>
        </p:spPr>
        <p:txBody>
          <a:bodyPr>
            <a:noAutofit/>
          </a:bodyPr>
          <a:lstStyle/>
          <a:p>
            <a:pPr algn="l"/>
            <a:r>
              <a:rPr lang="en-US" sz="1400" dirty="0"/>
              <a:t>Aliza Rashid</a:t>
            </a:r>
          </a:p>
          <a:p>
            <a:pPr algn="l"/>
            <a:r>
              <a:rPr lang="en-US" sz="1400" dirty="0">
                <a:effectLst/>
              </a:rPr>
              <a:t>Student Id: CA/SE1/5303</a:t>
            </a:r>
          </a:p>
          <a:p>
            <a:pPr algn="l"/>
            <a:r>
              <a:rPr lang="en-US" sz="1400" dirty="0"/>
              <a:t>Cyber Security Intern</a:t>
            </a:r>
          </a:p>
          <a:p>
            <a:pPr algn="l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862882" cy="970450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sz="4000" dirty="0"/>
              <a:t>Introduction to Phishing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Autofit/>
          </a:bodyPr>
          <a:lstStyle/>
          <a:p>
            <a:r>
              <a:rPr lang="en-US" sz="2000" b="1" dirty="0"/>
              <a:t>What is Phishing?</a:t>
            </a:r>
            <a:br>
              <a:rPr lang="en-US" sz="2000" dirty="0"/>
            </a:br>
            <a:r>
              <a:rPr lang="en-US" sz="1800" dirty="0"/>
              <a:t>Phishing is a type of cyber attack where attackers trick users into revealing sensitive information such as passwords, credit card details, or personal data by pretending to be a trusted entity.</a:t>
            </a:r>
          </a:p>
          <a:p>
            <a:r>
              <a:rPr lang="en-US" sz="2000" b="1" dirty="0"/>
              <a:t>Why is Phishing Dangerous?</a:t>
            </a:r>
            <a:endParaRPr lang="en-US" sz="2000" dirty="0"/>
          </a:p>
          <a:p>
            <a:r>
              <a:rPr lang="en-US" sz="1800" dirty="0"/>
              <a:t>Identity theft</a:t>
            </a:r>
          </a:p>
          <a:p>
            <a:r>
              <a:rPr lang="en-US" sz="1800" dirty="0"/>
              <a:t>Financial loss</a:t>
            </a:r>
          </a:p>
          <a:p>
            <a:r>
              <a:rPr lang="en-US" sz="1800" dirty="0"/>
              <a:t>Account compromise</a:t>
            </a:r>
          </a:p>
          <a:p>
            <a:r>
              <a:rPr lang="en-US" sz="1800" dirty="0"/>
              <a:t>Data breaches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4209C8-734B-BE6B-7AA3-6A5147714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B83C1AF5-73EB-F0AD-C0E1-B0657D979C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C9C0E0-381F-441B-969F-7161C772B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ECBB74F3-C7E8-1D81-C652-FCBAF704F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3E4C3B-BEDF-6FCD-D358-D8236C735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862882" cy="970450"/>
          </a:xfrm>
        </p:spPr>
        <p:txBody>
          <a:bodyPr anchor="b">
            <a:normAutofit/>
          </a:bodyPr>
          <a:lstStyle/>
          <a:p>
            <a:r>
              <a:rPr lang="en-US" sz="3200" dirty="0"/>
              <a:t>Common Types of Phishing Attacks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BFFBA3E2-F214-0418-0579-FAA8969B8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 fontScale="85000" lnSpcReduction="10000"/>
          </a:bodyPr>
          <a:lstStyle/>
          <a:p>
            <a:r>
              <a:rPr lang="en-US" sz="2400" b="1" dirty="0"/>
              <a:t>Email Phishing </a:t>
            </a:r>
            <a:r>
              <a:rPr lang="en-US" sz="2400" dirty="0"/>
              <a:t>– Fake emails pretending to be from banks, companies, or services</a:t>
            </a:r>
          </a:p>
          <a:p>
            <a:r>
              <a:rPr lang="en-US" sz="2400" b="1" dirty="0"/>
              <a:t>Spear Phishing </a:t>
            </a:r>
            <a:r>
              <a:rPr lang="en-US" sz="2400" dirty="0"/>
              <a:t>– Targeted phishing aimed at specific individuals</a:t>
            </a:r>
          </a:p>
          <a:p>
            <a:r>
              <a:rPr lang="en-US" sz="2400" b="1" dirty="0"/>
              <a:t>Smishing</a:t>
            </a:r>
            <a:r>
              <a:rPr lang="en-US" sz="2400" dirty="0"/>
              <a:t> – Phishing via SMS messages</a:t>
            </a:r>
          </a:p>
          <a:p>
            <a:r>
              <a:rPr lang="en-US" sz="2400" b="1" dirty="0"/>
              <a:t>Vishing</a:t>
            </a:r>
            <a:r>
              <a:rPr lang="en-US" sz="2400" dirty="0"/>
              <a:t> – Phishing through phone calls</a:t>
            </a:r>
          </a:p>
          <a:p>
            <a:r>
              <a:rPr lang="en-US" sz="2400" b="1" dirty="0"/>
              <a:t>Fake Websites </a:t>
            </a:r>
            <a:r>
              <a:rPr lang="en-US" sz="2400" dirty="0"/>
              <a:t>– Look-alike websites designed to steal credentials</a:t>
            </a:r>
          </a:p>
        </p:txBody>
      </p:sp>
    </p:spTree>
    <p:extLst>
      <p:ext uri="{BB962C8B-B14F-4D97-AF65-F5344CB8AC3E}">
        <p14:creationId xmlns:p14="http://schemas.microsoft.com/office/powerpoint/2010/main" val="4062904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1E85ED-7389-8A9D-C551-E9E0502A9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A4455F59-E90E-3A36-9872-5E1B4CBCC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35A4DF-7704-5130-5996-5C7AF9E526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610839BC-E81E-5543-F63C-AD001079CF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6F5B64A-8C60-DCA3-9C3F-0953A8A1F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731068" cy="766916"/>
          </a:xfrm>
        </p:spPr>
        <p:txBody>
          <a:bodyPr anchor="b">
            <a:noAutofit/>
          </a:bodyPr>
          <a:lstStyle/>
          <a:p>
            <a:pPr algn="l"/>
            <a:r>
              <a:rPr lang="en-US" sz="3200" dirty="0"/>
              <a:t>How to Recognize Phishing Emails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0034C094-C1F0-FC7D-5521-A2111E063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 fontScale="92500" lnSpcReduction="10000"/>
          </a:bodyPr>
          <a:lstStyle/>
          <a:p>
            <a:pPr marL="36900" indent="0">
              <a:buNone/>
            </a:pPr>
            <a:r>
              <a:rPr lang="en-US" sz="2400" b="1" dirty="0"/>
              <a:t>Red Flags:</a:t>
            </a:r>
            <a:endParaRPr lang="en-US" sz="2400" dirty="0"/>
          </a:p>
          <a:p>
            <a:r>
              <a:rPr lang="en-US" sz="2400" dirty="0"/>
              <a:t>Urgent or threatening language ("Act now!", "Account will be closed")</a:t>
            </a:r>
          </a:p>
          <a:p>
            <a:r>
              <a:rPr lang="en-US" sz="2400" dirty="0"/>
              <a:t>Suspicious sender email address</a:t>
            </a:r>
          </a:p>
          <a:p>
            <a:r>
              <a:rPr lang="en-US" sz="2400" dirty="0"/>
              <a:t>Spelling and grammar mistakes</a:t>
            </a:r>
          </a:p>
          <a:p>
            <a:r>
              <a:rPr lang="en-US" sz="2400" dirty="0"/>
              <a:t>Unexpected attachments or links</a:t>
            </a:r>
          </a:p>
          <a:p>
            <a:r>
              <a:rPr lang="en-US" sz="2400" dirty="0"/>
              <a:t>Requests for personal or financial information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19242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0E3622-0F76-5283-1924-A4146682E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155EA0B9-D594-8EB9-BC27-7D7D3CD82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2A8280-163E-3780-A7FB-AAFC6941B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1D28A6C6-9621-BA52-86C9-AF09302BA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641D5D-AFE5-B84E-23D0-C46D892AB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862882" cy="970450"/>
          </a:xfrm>
        </p:spPr>
        <p:txBody>
          <a:bodyPr anchor="b">
            <a:noAutofit/>
          </a:bodyPr>
          <a:lstStyle/>
          <a:p>
            <a:pPr algn="l"/>
            <a:r>
              <a:rPr lang="en-US" sz="3400" dirty="0"/>
              <a:t>How to Identify Fake Websites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3491B102-33E1-640B-B791-02EE97C44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/>
          </a:bodyPr>
          <a:lstStyle/>
          <a:p>
            <a:r>
              <a:rPr lang="en-US" sz="2000" dirty="0"/>
              <a:t>URL spelling mistakes (e.g., paypa1.com instead of paypal.com)</a:t>
            </a:r>
          </a:p>
          <a:p>
            <a:r>
              <a:rPr lang="en-US" sz="2000" dirty="0"/>
              <a:t>No HTTPS or missing lock icon</a:t>
            </a:r>
          </a:p>
          <a:p>
            <a:r>
              <a:rPr lang="en-US" sz="2000" dirty="0"/>
              <a:t>Poor website design or broken links</a:t>
            </a:r>
          </a:p>
          <a:p>
            <a:r>
              <a:rPr lang="en-US" sz="2000" dirty="0"/>
              <a:t>Pop-ups asking for login details</a:t>
            </a:r>
          </a:p>
          <a:p>
            <a:r>
              <a:rPr lang="en-US" sz="2000" dirty="0"/>
              <a:t>Domain names that don’t match the organization</a:t>
            </a:r>
          </a:p>
        </p:txBody>
      </p:sp>
    </p:spTree>
    <p:extLst>
      <p:ext uri="{BB962C8B-B14F-4D97-AF65-F5344CB8AC3E}">
        <p14:creationId xmlns:p14="http://schemas.microsoft.com/office/powerpoint/2010/main" val="3579939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071B61-E772-504F-FF20-21C0D7C22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4DC24619-B1F7-63A9-99F7-D508DD185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84464C-AEF5-81FE-ED53-5A3851FDE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25862DD-2292-4C1A-E7D8-D372813E95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F33167-EBA5-560D-51CE-A7CF79D00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862882" cy="970450"/>
          </a:xfrm>
        </p:spPr>
        <p:txBody>
          <a:bodyPr anchor="b">
            <a:normAutofit/>
          </a:bodyPr>
          <a:lstStyle/>
          <a:p>
            <a:pPr algn="l"/>
            <a:r>
              <a:rPr lang="en-US" sz="3100" dirty="0"/>
              <a:t>Social Engineering Techniques Used by Attackers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57DD7F02-89C9-296C-EE08-31E69FF48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/>
          </a:bodyPr>
          <a:lstStyle/>
          <a:p>
            <a:r>
              <a:rPr lang="en-US" sz="2000" dirty="0"/>
              <a:t>Fear: Threatening messages (account suspension)</a:t>
            </a:r>
          </a:p>
          <a:p>
            <a:r>
              <a:rPr lang="en-US" sz="2000" dirty="0"/>
              <a:t>Urgency: Limited-time warnings</a:t>
            </a:r>
          </a:p>
          <a:p>
            <a:r>
              <a:rPr lang="en-US" sz="2000" dirty="0"/>
              <a:t>Trust: Pretending to be a known company or authority</a:t>
            </a:r>
          </a:p>
          <a:p>
            <a:r>
              <a:rPr lang="en-US" sz="2000" dirty="0"/>
              <a:t>Curiosity: "You have won a prize“</a:t>
            </a:r>
          </a:p>
          <a:p>
            <a:r>
              <a:rPr lang="en-US" sz="2000" dirty="0"/>
              <a:t>Helpfulness: Pretending to offer support</a:t>
            </a:r>
          </a:p>
        </p:txBody>
      </p:sp>
    </p:spTree>
    <p:extLst>
      <p:ext uri="{BB962C8B-B14F-4D97-AF65-F5344CB8AC3E}">
        <p14:creationId xmlns:p14="http://schemas.microsoft.com/office/powerpoint/2010/main" val="493218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D0F08F-B233-9561-5E9F-812374676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52D0BAB3-0BAC-FBCD-3DA3-5E06521C7E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475B08-EB31-1A39-6976-EE3F206F0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F0D816DD-B073-0B1F-263C-080C2AF33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1F33715-62FF-BC5F-796A-119CE3FD8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862882" cy="970450"/>
          </a:xfrm>
        </p:spPr>
        <p:txBody>
          <a:bodyPr anchor="b">
            <a:normAutofit/>
          </a:bodyPr>
          <a:lstStyle/>
          <a:p>
            <a:pPr algn="l"/>
            <a:r>
              <a:rPr lang="en-US" sz="3200" dirty="0"/>
              <a:t>Real-World Phishing Example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3FB5E252-1761-0CF0-F030-94D910769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/>
          </a:bodyPr>
          <a:lstStyle/>
          <a:p>
            <a:r>
              <a:rPr lang="en-US" sz="2000" b="1" dirty="0"/>
              <a:t>Example Email:</a:t>
            </a:r>
            <a:r>
              <a:rPr lang="en-US" sz="2000" dirty="0"/>
              <a:t> "Your bank account has been compromised. Click here to verify your details immediately."</a:t>
            </a:r>
          </a:p>
          <a:p>
            <a:r>
              <a:rPr lang="en-US" sz="2000" b="1" dirty="0"/>
              <a:t>Why it is Phishing:</a:t>
            </a:r>
            <a:endParaRPr lang="en-US" sz="2000" dirty="0"/>
          </a:p>
          <a:p>
            <a:r>
              <a:rPr lang="en-US" sz="2000" dirty="0"/>
              <a:t>Creates panic</a:t>
            </a:r>
          </a:p>
          <a:p>
            <a:r>
              <a:rPr lang="en-US" sz="2000" dirty="0"/>
              <a:t>Contains suspicious link</a:t>
            </a:r>
          </a:p>
          <a:p>
            <a:r>
              <a:rPr lang="en-US" sz="2000" dirty="0"/>
              <a:t>Asks for sensitive information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29667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7D9C59-BA59-BB38-B550-4A5221E6A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1951FE32-A42B-0A80-9090-E7AEF47EA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5F0F85-4888-6658-1B6D-1A79A6D54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26296AE2-1C83-8136-33E6-B4C53DBF44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18024BA-4B29-01A9-F840-057B188AE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862882" cy="970450"/>
          </a:xfrm>
        </p:spPr>
        <p:txBody>
          <a:bodyPr anchor="b">
            <a:normAutofit/>
          </a:bodyPr>
          <a:lstStyle/>
          <a:p>
            <a:pPr algn="l"/>
            <a:r>
              <a:rPr lang="en-US" sz="3200" dirty="0"/>
              <a:t>Best Practices to Avoid Phishing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B13EF0E5-1173-6BCD-8484-FD6E54E7E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/>
          </a:bodyPr>
          <a:lstStyle/>
          <a:p>
            <a:r>
              <a:rPr lang="en-US" sz="2000" dirty="0"/>
              <a:t>Never click on suspicious links</a:t>
            </a:r>
          </a:p>
          <a:p>
            <a:r>
              <a:rPr lang="en-US" sz="2000" dirty="0"/>
              <a:t>Verify sender email addresses</a:t>
            </a:r>
          </a:p>
          <a:p>
            <a:r>
              <a:rPr lang="en-US" sz="2000" dirty="0"/>
              <a:t>Do not share passwords or OTPs</a:t>
            </a:r>
          </a:p>
          <a:p>
            <a:r>
              <a:rPr lang="en-US" sz="2000" dirty="0"/>
              <a:t>Use strong and unique passwords</a:t>
            </a:r>
          </a:p>
          <a:p>
            <a:r>
              <a:rPr lang="en-US" sz="2000" dirty="0"/>
              <a:t>Enable two-factor authentication (2FA)</a:t>
            </a:r>
          </a:p>
          <a:p>
            <a:r>
              <a:rPr lang="en-US" sz="2000" dirty="0"/>
              <a:t>Keep software and browsers updated</a:t>
            </a:r>
          </a:p>
        </p:txBody>
      </p:sp>
    </p:spTree>
    <p:extLst>
      <p:ext uri="{BB962C8B-B14F-4D97-AF65-F5344CB8AC3E}">
        <p14:creationId xmlns:p14="http://schemas.microsoft.com/office/powerpoint/2010/main" val="2128000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A6EE7D-B8C5-51BA-4CFE-1ECB9C0D4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F8ABADE6-B01A-B9E0-742F-A27C7FE0E6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F12219-64B9-7F20-EF51-50216DE97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C659241-485C-069E-92E0-6525A284E1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FA47CD-189C-3362-D510-6D094A6FD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862882" cy="970450"/>
          </a:xfrm>
        </p:spPr>
        <p:txBody>
          <a:bodyPr anchor="b">
            <a:normAutofit/>
          </a:bodyPr>
          <a:lstStyle/>
          <a:p>
            <a:pPr algn="l"/>
            <a:r>
              <a:rPr lang="en-US" sz="3200" dirty="0"/>
              <a:t>What To Do If You Receive a Phishing Message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91EE47E7-E792-AE24-6929-BB083F812F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/>
          </a:bodyPr>
          <a:lstStyle/>
          <a:p>
            <a:r>
              <a:rPr lang="en-US" sz="2000" dirty="0"/>
              <a:t>Do not click links or download attachments</a:t>
            </a:r>
          </a:p>
          <a:p>
            <a:r>
              <a:rPr lang="en-US" sz="2000" dirty="0"/>
              <a:t>Report the email as phishing</a:t>
            </a:r>
          </a:p>
          <a:p>
            <a:r>
              <a:rPr lang="en-US" sz="2000" dirty="0"/>
              <a:t>Delete the message immediately</a:t>
            </a:r>
          </a:p>
          <a:p>
            <a:r>
              <a:rPr lang="en-US" sz="2000" dirty="0"/>
              <a:t>Inform your organization or IT department</a:t>
            </a:r>
          </a:p>
          <a:p>
            <a:r>
              <a:rPr lang="en-US" sz="2000" dirty="0"/>
              <a:t>Change passwords if already clicked</a:t>
            </a:r>
          </a:p>
        </p:txBody>
      </p:sp>
    </p:spTree>
    <p:extLst>
      <p:ext uri="{BB962C8B-B14F-4D97-AF65-F5344CB8AC3E}">
        <p14:creationId xmlns:p14="http://schemas.microsoft.com/office/powerpoint/2010/main" val="2426003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C1876B-7DD0-8231-3DB5-46B38672C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37F4F594-9147-1D1A-C010-3E57EE18C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2CA4D3-9D92-E5FB-1128-B436E85691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8FC7C45F-13FD-5C5A-B217-28618A88B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F1FDF-832F-18AB-C57D-5EF6216A6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862882" cy="970450"/>
          </a:xfrm>
        </p:spPr>
        <p:txBody>
          <a:bodyPr anchor="b">
            <a:normAutofit/>
          </a:bodyPr>
          <a:lstStyle/>
          <a:p>
            <a:pPr algn="l"/>
            <a:r>
              <a:rPr lang="en-US" sz="3200" dirty="0"/>
              <a:t>Interactive Quiz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544DFE8-22A0-07BD-5F8F-44E4A041CF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 fontScale="70000" lnSpcReduction="20000"/>
          </a:bodyPr>
          <a:lstStyle/>
          <a:p>
            <a:r>
              <a:rPr lang="en-US" sz="2400" b="1" dirty="0"/>
              <a:t>Q1:</a:t>
            </a:r>
            <a:r>
              <a:rPr lang="en-US" sz="2400" dirty="0"/>
              <a:t> Which of the following is a sign of phishing?</a:t>
            </a:r>
          </a:p>
          <a:p>
            <a:r>
              <a:rPr lang="en-US" sz="2400" dirty="0"/>
              <a:t>A) Proper grammar</a:t>
            </a:r>
          </a:p>
          <a:p>
            <a:r>
              <a:rPr lang="en-US" sz="2400" dirty="0"/>
              <a:t>B) Urgent threat message</a:t>
            </a:r>
          </a:p>
          <a:p>
            <a:r>
              <a:rPr lang="en-US" sz="2400" dirty="0"/>
              <a:t>C) Secure HTTPS website</a:t>
            </a:r>
          </a:p>
          <a:p>
            <a:r>
              <a:rPr lang="en-US" sz="2400" b="1" dirty="0"/>
              <a:t>Correct Answer:</a:t>
            </a:r>
            <a:r>
              <a:rPr lang="en-US" sz="2400" dirty="0"/>
              <a:t> B</a:t>
            </a:r>
          </a:p>
          <a:p>
            <a:r>
              <a:rPr lang="en-US" sz="2400" b="1" dirty="0"/>
              <a:t>Q2:</a:t>
            </a:r>
            <a:r>
              <a:rPr lang="en-US" sz="2400" dirty="0"/>
              <a:t> Should legitimate companies ask for passwords via email?</a:t>
            </a:r>
          </a:p>
          <a:p>
            <a:r>
              <a:rPr lang="en-US" sz="2400" dirty="0"/>
              <a:t>A) Yes</a:t>
            </a:r>
          </a:p>
          <a:p>
            <a:r>
              <a:rPr lang="en-US" sz="2400" dirty="0"/>
              <a:t>B) No</a:t>
            </a:r>
          </a:p>
          <a:p>
            <a:r>
              <a:rPr lang="en-US" sz="2400" b="1" dirty="0"/>
              <a:t>Correct Answer:</a:t>
            </a:r>
            <a:r>
              <a:rPr lang="en-US" sz="2400" dirty="0"/>
              <a:t> B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01465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E4B85E-162E-B929-308A-D25571960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AA7BADF4-6BB3-3791-8666-A06593CD1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83B705-C2DA-4167-3010-F7FACDB3D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2F9C3B41-14F8-CC68-96F2-4EEFA2C316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500E370-56DE-CFD9-2170-778CB17E4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2634032" cy="952500"/>
          </a:xfrm>
        </p:spPr>
        <p:txBody>
          <a:bodyPr anchor="b">
            <a:normAutofit/>
          </a:bodyPr>
          <a:lstStyle/>
          <a:p>
            <a:r>
              <a:rPr lang="en-US" sz="3200" b="1" dirty="0"/>
              <a:t>Conclusion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00EAAC31-BB74-BC8D-376C-1063D81E4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/>
          </a:bodyPr>
          <a:lstStyle/>
          <a:p>
            <a:r>
              <a:rPr lang="en-US" sz="2200" dirty="0"/>
              <a:t>Phishing is one of the most common cyber attacks</a:t>
            </a:r>
          </a:p>
          <a:p>
            <a:r>
              <a:rPr lang="en-US" sz="2200" dirty="0"/>
              <a:t>Awareness is the best defense</a:t>
            </a:r>
          </a:p>
          <a:p>
            <a:r>
              <a:rPr lang="en-US" sz="2200" dirty="0"/>
              <a:t>Always verify before you trust</a:t>
            </a:r>
          </a:p>
          <a:p>
            <a:r>
              <a:rPr lang="en-US" sz="2200" dirty="0"/>
              <a:t>Stay alert, stay safe online</a:t>
            </a:r>
          </a:p>
        </p:txBody>
      </p:sp>
    </p:spTree>
    <p:extLst>
      <p:ext uri="{BB962C8B-B14F-4D97-AF65-F5344CB8AC3E}">
        <p14:creationId xmlns:p14="http://schemas.microsoft.com/office/powerpoint/2010/main" val="296958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EEEBB-5858-7882-1871-EF7EBF789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20" y="1847851"/>
            <a:ext cx="10353762" cy="1257300"/>
          </a:xfrm>
        </p:spPr>
        <p:txBody>
          <a:bodyPr/>
          <a:lstStyle/>
          <a:p>
            <a:r>
              <a:rPr lang="en-US" dirty="0"/>
              <a:t>Thank You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62715-89B0-D20D-86CF-DBE691A0E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2395" y="3105151"/>
            <a:ext cx="2639030" cy="1047750"/>
          </a:xfrm>
        </p:spPr>
        <p:txBody>
          <a:bodyPr/>
          <a:lstStyle/>
          <a:p>
            <a:pPr marL="36900" indent="0">
              <a:buNone/>
            </a:pPr>
            <a:r>
              <a:rPr lang="en-US" dirty="0"/>
              <a:t>Stay Cyber Safe!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1189051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2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3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4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5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6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7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8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9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10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1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{40A3E37A-3424-4F6C-875F-458BAFC60A9A}TFe742eee6-54b3-45e8-a03d-f3d997f9b6caf6c338c2_win32-3734725ae7e2</Template>
  <TotalTime>25</TotalTime>
  <Words>453</Words>
  <Application>Microsoft Office PowerPoint</Application>
  <PresentationFormat>Widescreen</PresentationFormat>
  <Paragraphs>83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Goudy Old Style</vt:lpstr>
      <vt:lpstr>Wingdings 2</vt:lpstr>
      <vt:lpstr>SlateVTI</vt:lpstr>
      <vt:lpstr>Phishing Awareness Training </vt:lpstr>
      <vt:lpstr>Introduction to Phishing</vt:lpstr>
      <vt:lpstr>Common Types of Phishing Attacks</vt:lpstr>
      <vt:lpstr>How to Recognize Phishing Emails</vt:lpstr>
      <vt:lpstr>How to Identify Fake Websites</vt:lpstr>
      <vt:lpstr>Social Engineering Techniques Used by Attackers</vt:lpstr>
      <vt:lpstr>Real-World Phishing Example</vt:lpstr>
      <vt:lpstr>Best Practices to Avoid Phishing</vt:lpstr>
      <vt:lpstr>What To Do If You Receive a Phishing Message</vt:lpstr>
      <vt:lpstr>Interactive Quiz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ALIZA RANA</dc:creator>
  <cp:lastModifiedBy>ALIZA RANA</cp:lastModifiedBy>
  <cp:revision>3</cp:revision>
  <dcterms:created xsi:type="dcterms:W3CDTF">2025-12-25T18:33:04Z</dcterms:created>
  <dcterms:modified xsi:type="dcterms:W3CDTF">2025-12-25T18:58:17Z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